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0E6BD9-57FA-CF5A-F032-848B3505E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B54A46-F034-B9C7-5654-251523DD9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FEDC16-686C-8E1C-50F2-0F87A452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84082B-EB56-E193-F48E-B3179268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ADE094-7517-6CE7-3F4B-E5D5340E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38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BFD124-3747-FDFB-3A08-B8479ED4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6B8CDF-0CC8-EA66-E2DE-24CE5965C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5A2D87-2677-E8BE-E526-CA851F97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176541-0286-B196-0309-51E1C379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9E162B-7B70-5DBF-AFDD-92545CC1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366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BBEB7D-642E-20B5-2D67-56CDDE748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447B71-D19F-EC0F-F697-09521E2A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AF4BB-A62A-29E4-16E9-1067D604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8CD079-9BF0-0B21-A900-3C1F1596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8EBFE2-D5C3-2CA6-D381-0A5B9DF5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02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0AE54C-6252-7B58-9A46-BF3E8EC8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E1209D-1489-B8B9-721C-CD066FEAC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3B5D00-D6E4-BF2B-428B-02A81DECA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D190ED-234A-EA17-7BA1-76AC7DA4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795463-C366-DDC9-2DBD-763DD661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546E8B-2962-6475-4B71-BDD6B41D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44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305901-3A08-D466-FA60-4DDD3DA25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B46625-59F2-2F4C-BFF4-04B1B0683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A60FDB1-A8AA-C769-6915-556335615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B7D0592-B36F-D3E7-A595-D7319F44A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638B00-D706-68C9-E223-AE0F95699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A44B413-71E7-A30C-26C0-308E8BF4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551AA0-6F63-10CC-0483-95207758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F04B61-0141-D25C-7134-0268E3F4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801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13638E-9642-2F8F-D129-E76AF71D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68FE399-32E3-5CC9-B13E-A69683F6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0F2D76C-47F8-23DE-7E01-8BD908A5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A91942-F5DF-2396-15E8-FC337593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51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68D4073-605B-0CF7-C2F1-458563A29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4706B9F-D290-25EA-1E50-F47ABA16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5258C5-4439-7776-B73E-2DF328914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24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70B123-8C60-9615-EBCF-B94B9754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1C39D-BA63-9C6A-349E-A0E18BAE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EBBAB6-DB75-6A93-8948-5E153C1B1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7561C8-9E10-A074-44B5-C55B5390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B5CB0A-E9D7-8DBA-D000-2A5ED48A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0E000A-BCF3-E0C1-ADB4-708233BC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24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C0023D-50CE-0C7A-D1DE-E093E25A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C4944B-15AF-A64C-75ED-D153DDB3D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95DE1D1-9BDB-085F-E335-4C7357B4E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B7502E-A782-403E-E70B-87C8F1E5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5709E0-67C0-A994-14BA-9584B26B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4A1BA1-9A15-125D-B1E3-09EEC4ED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2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0F8F06-84C2-9548-A0DC-A4AFA678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40C52E-A7EA-17C9-6EAB-E7366735F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D0FBAF-5D87-A805-1249-22B13DF3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C7DC42-2631-035E-9E3F-5E67F264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6E51F2-F6C5-7156-B5C1-69FD3172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068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4A4C053-A78C-82D7-23B7-25B4DD43F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F5EDB0-8069-721F-F5D2-0205D09EC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ABEC3C-9F73-A557-DA93-CE09C3D0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A6F9A3-89B9-BB41-25E6-214A6755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763A0E-54BE-CF64-0E61-33B82021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309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53671EC-CAB8-0F0F-1FA2-53F2E85B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90F63A-3F91-F3A8-6715-0D8F57625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EF307B-358A-AE55-E164-041DC3D8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6B07C-2B98-4C1C-BB46-F81D4C026601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FCA356-9651-E7C3-B4FC-3BA35EF04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E61AEF-C38B-0F58-8058-60A67A5A7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D7E48-D6BB-40B0-A3A4-E5ED5BCE2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31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1AA5C-9403-6232-2E7D-B72E321A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Noto Serif CJK TC Medium" panose="02020500000000000000" pitchFamily="18" charset="-120"/>
                <a:ea typeface="Noto Serif CJK TC Medium" panose="02020500000000000000" pitchFamily="18" charset="-120"/>
              </a:rPr>
              <a:t>邊緣特徵提取與素描風格即時轉換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FB47EC2-25AB-D9FF-F787-19EC4391F2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Noto Serif CJK TC Medium" panose="02020500000000000000" pitchFamily="18" charset="-120"/>
                <a:ea typeface="Noto Serif CJK TC Medium" panose="02020500000000000000" pitchFamily="18" charset="-120"/>
              </a:rPr>
              <a:t>Group 7</a:t>
            </a:r>
          </a:p>
          <a:p>
            <a:r>
              <a:rPr lang="en-US" altLang="zh-TW" dirty="0">
                <a:latin typeface="Noto Serif CJK TC Medium" panose="02020500000000000000" pitchFamily="18" charset="-120"/>
                <a:ea typeface="Noto Serif CJK TC Medium" panose="02020500000000000000" pitchFamily="18" charset="-120"/>
              </a:rPr>
              <a:t>111360451</a:t>
            </a:r>
            <a:r>
              <a:rPr lang="zh-TW" altLang="en-US" dirty="0">
                <a:latin typeface="Noto Serif CJK TC Medium" panose="02020500000000000000" pitchFamily="18" charset="-120"/>
                <a:ea typeface="Noto Serif CJK TC Medium" panose="02020500000000000000" pitchFamily="18" charset="-120"/>
              </a:rPr>
              <a:t> 蕭賀澤</a:t>
            </a:r>
            <a:endParaRPr lang="en-US" altLang="zh-TW" dirty="0">
              <a:latin typeface="Noto Serif CJK TC Medium" panose="02020500000000000000" pitchFamily="18" charset="-120"/>
              <a:ea typeface="Noto Serif CJK TC Medium" panose="02020500000000000000" pitchFamily="18" charset="-120"/>
            </a:endParaRPr>
          </a:p>
          <a:p>
            <a:r>
              <a:rPr lang="en-US" altLang="zh-TW" dirty="0">
                <a:latin typeface="Noto Serif CJK TC Medium" panose="02020500000000000000" pitchFamily="18" charset="-120"/>
                <a:ea typeface="Noto Serif CJK TC Medium" panose="02020500000000000000" pitchFamily="18" charset="-120"/>
              </a:rPr>
              <a:t>111310452 </a:t>
            </a:r>
            <a:r>
              <a:rPr lang="zh-TW" altLang="en-US" dirty="0">
                <a:latin typeface="Noto Serif CJK TC Medium" panose="02020500000000000000" pitchFamily="18" charset="-120"/>
                <a:ea typeface="Noto Serif CJK TC Medium" panose="02020500000000000000" pitchFamily="18" charset="-120"/>
              </a:rPr>
              <a:t>黃安華</a:t>
            </a:r>
          </a:p>
        </p:txBody>
      </p:sp>
    </p:spTree>
    <p:extLst>
      <p:ext uri="{BB962C8B-B14F-4D97-AF65-F5344CB8AC3E}">
        <p14:creationId xmlns:p14="http://schemas.microsoft.com/office/powerpoint/2010/main" val="299755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F1D24-7754-78AC-6DA3-D0748F6F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專案動機與系統目標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E5BAB-A189-8248-96E7-2D264D370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研究動機：現代影像濾鏡（如高斯模糊與色彩混疊）若由通用處理器 </a:t>
            </a:r>
            <a:r>
              <a:rPr lang="en-US" altLang="zh-TW" dirty="0"/>
              <a:t>(CPU) </a:t>
            </a:r>
            <a:r>
              <a:rPr lang="zh-TW" altLang="en-US" dirty="0"/>
              <a:t>以純軟體執行，常受限於記憶體頻寬與指令集開銷，難以滿足即時 </a:t>
            </a:r>
            <a:r>
              <a:rPr lang="en-US" altLang="zh-TW" dirty="0"/>
              <a:t>(Real-time) </a:t>
            </a:r>
            <a:r>
              <a:rPr lang="zh-TW" altLang="en-US" dirty="0"/>
              <a:t>處理之需求。</a:t>
            </a:r>
          </a:p>
          <a:p>
            <a:r>
              <a:rPr lang="zh-TW" altLang="en-US" dirty="0"/>
              <a:t>系統目標：基於 </a:t>
            </a:r>
            <a:r>
              <a:rPr lang="en-US" altLang="zh-TW" dirty="0"/>
              <a:t>Zynq-7000 SoC </a:t>
            </a:r>
            <a:r>
              <a:rPr lang="zh-TW" altLang="en-US" dirty="0"/>
              <a:t>架構，設計一具備高吞吐量 </a:t>
            </a:r>
            <a:r>
              <a:rPr lang="en-US" altLang="zh-TW" dirty="0"/>
              <a:t>($II=1$) </a:t>
            </a:r>
            <a:r>
              <a:rPr lang="zh-TW" altLang="en-US" dirty="0"/>
              <a:t>之專用硬體加速器 </a:t>
            </a:r>
            <a:r>
              <a:rPr lang="en-US" altLang="zh-TW" dirty="0"/>
              <a:t>(Hardware Accelerator)</a:t>
            </a:r>
            <a:r>
              <a:rPr lang="zh-TW" altLang="en-US" dirty="0"/>
              <a:t>，以減輕 </a:t>
            </a:r>
            <a:r>
              <a:rPr lang="en-US" altLang="zh-TW" dirty="0"/>
              <a:t>CPU </a:t>
            </a:r>
            <a:r>
              <a:rPr lang="zh-TW" altLang="en-US" dirty="0"/>
              <a:t>負載並達成即時影像轉換。</a:t>
            </a:r>
          </a:p>
        </p:txBody>
      </p:sp>
    </p:spTree>
    <p:extLst>
      <p:ext uri="{BB962C8B-B14F-4D97-AF65-F5344CB8AC3E}">
        <p14:creationId xmlns:p14="http://schemas.microsoft.com/office/powerpoint/2010/main" val="358252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146A7D-CE3B-4041-1946-6CE21D9B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演算法分析與設計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6AE8E0-BD5C-0680-F696-7861D4A58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演算法演進與比較：</a:t>
            </a:r>
          </a:p>
          <a:p>
            <a:r>
              <a:rPr lang="zh-TW" altLang="en-US" dirty="0"/>
              <a:t>初期實作 </a:t>
            </a:r>
            <a:r>
              <a:rPr lang="en-US" altLang="zh-TW" dirty="0"/>
              <a:t>(Sobel Edge Detection)</a:t>
            </a:r>
            <a:r>
              <a:rPr lang="zh-TW" altLang="en-US" dirty="0"/>
              <a:t>：採用 </a:t>
            </a:r>
            <a:r>
              <a:rPr lang="en-US" altLang="zh-TW" dirty="0"/>
              <a:t>$3 \times 3$ </a:t>
            </a:r>
            <a:r>
              <a:rPr lang="zh-TW" altLang="en-US" dirty="0"/>
              <a:t>梯度運算，運算成本低但影像輪廓生硬，缺乏光影細節。</a:t>
            </a:r>
          </a:p>
          <a:p>
            <a:r>
              <a:rPr lang="zh-TW" altLang="en-US" dirty="0"/>
              <a:t>改良實作 </a:t>
            </a:r>
            <a:r>
              <a:rPr lang="en-US" altLang="zh-TW" dirty="0"/>
              <a:t>(Gaussian Blur &amp; Color Dodge)</a:t>
            </a:r>
            <a:r>
              <a:rPr lang="zh-TW" altLang="en-US" dirty="0"/>
              <a:t>：為達到平滑漸層之真實素描效果，升級為 </a:t>
            </a:r>
            <a:r>
              <a:rPr lang="en-US" altLang="zh-TW" dirty="0"/>
              <a:t>$5 \times 5$ </a:t>
            </a:r>
            <a:r>
              <a:rPr lang="zh-TW" altLang="en-US" dirty="0"/>
              <a:t>高斯模糊卷積，並透過色彩加亮演算法進行像素混疊 </a:t>
            </a:r>
            <a:r>
              <a:rPr lang="en-US" altLang="zh-TW" dirty="0"/>
              <a:t>(Pixel Blending)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2437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E0AD9-3AD3-A536-A2FD-976E1122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硬體微架構設計與最佳化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AA8702-3075-8927-BDDD-637BB90B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記憶體階層優化 </a:t>
            </a:r>
            <a:r>
              <a:rPr lang="en-US" altLang="zh-TW" dirty="0"/>
              <a:t>(Memory Hierarchy Optimization)</a:t>
            </a:r>
            <a:r>
              <a:rPr lang="zh-TW" altLang="en-US" dirty="0"/>
              <a:t>：針對影像卷積之空間局部性 </a:t>
            </a:r>
            <a:r>
              <a:rPr lang="en-US" altLang="zh-TW" dirty="0"/>
              <a:t>(Spatial Locality)</a:t>
            </a:r>
            <a:r>
              <a:rPr lang="zh-TW" altLang="en-US" dirty="0"/>
              <a:t>，客製化 </a:t>
            </a:r>
            <a:r>
              <a:rPr lang="en-US" altLang="zh-TW" dirty="0"/>
              <a:t>$5 \times 5$ </a:t>
            </a:r>
            <a:r>
              <a:rPr lang="zh-TW" altLang="en-US" dirty="0"/>
              <a:t>之 </a:t>
            </a:r>
            <a:r>
              <a:rPr lang="en-US" altLang="zh-TW" dirty="0"/>
              <a:t>Line Buffer </a:t>
            </a:r>
            <a:r>
              <a:rPr lang="zh-TW" altLang="en-US" dirty="0"/>
              <a:t>與 </a:t>
            </a:r>
            <a:r>
              <a:rPr lang="en-US" altLang="zh-TW" dirty="0"/>
              <a:t>Window Buffer </a:t>
            </a:r>
            <a:r>
              <a:rPr lang="zh-TW" altLang="en-US" dirty="0"/>
              <a:t>移位暫存器結構，將外部記憶體存取次數降至最低。</a:t>
            </a:r>
          </a:p>
          <a:p>
            <a:r>
              <a:rPr lang="zh-TW" altLang="en-US" dirty="0"/>
              <a:t>零時延除法與防溢位設計：於 </a:t>
            </a:r>
            <a:r>
              <a:rPr lang="en-US" altLang="zh-TW" dirty="0"/>
              <a:t>Color Dodge </a:t>
            </a:r>
            <a:r>
              <a:rPr lang="zh-TW" altLang="en-US" dirty="0"/>
              <a:t>運算中，藉由將高斯權重總和設計為 </a:t>
            </a:r>
            <a:r>
              <a:rPr lang="en-US" altLang="zh-TW" dirty="0"/>
              <a:t>256</a:t>
            </a:r>
            <a:r>
              <a:rPr lang="zh-TW" altLang="en-US" dirty="0"/>
              <a:t>，以位元右移 </a:t>
            </a:r>
            <a:r>
              <a:rPr lang="en-US" altLang="zh-TW" dirty="0"/>
              <a:t>(&gt;&gt; 8) </a:t>
            </a:r>
            <a:r>
              <a:rPr lang="zh-TW" altLang="en-US" dirty="0"/>
              <a:t>取代硬體除法器；並於分母加入常數補償 </a:t>
            </a:r>
            <a:r>
              <a:rPr lang="en-US" altLang="zh-TW" dirty="0"/>
              <a:t>(B+1) </a:t>
            </a:r>
            <a:r>
              <a:rPr lang="zh-TW" altLang="en-US" dirty="0"/>
              <a:t>以確保系統穩定性 </a:t>
            </a:r>
            <a:r>
              <a:rPr lang="en-US" altLang="zh-TW" dirty="0"/>
              <a:t>(</a:t>
            </a:r>
            <a:r>
              <a:rPr lang="zh-TW" altLang="en-US" dirty="0"/>
              <a:t>避免 </a:t>
            </a:r>
            <a:r>
              <a:rPr lang="en-US" altLang="zh-TW" dirty="0"/>
              <a:t>Divide-by-Zero Exception)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管線化處理 </a:t>
            </a:r>
            <a:r>
              <a:rPr lang="en-US" altLang="zh-TW" dirty="0"/>
              <a:t>(Pipelining)</a:t>
            </a:r>
            <a:r>
              <a:rPr lang="zh-TW" altLang="en-US" dirty="0"/>
              <a:t>：展示 </a:t>
            </a:r>
            <a:r>
              <a:rPr lang="en-US" altLang="zh-TW" dirty="0"/>
              <a:t>Vitis HLS </a:t>
            </a:r>
            <a:r>
              <a:rPr lang="zh-TW" altLang="en-US" dirty="0"/>
              <a:t>之合成報告，證明系統成功達成 </a:t>
            </a:r>
            <a:r>
              <a:rPr lang="en-US" altLang="zh-TW" dirty="0"/>
              <a:t>Initiation Interval (II) = 1 </a:t>
            </a:r>
            <a:r>
              <a:rPr lang="zh-TW" altLang="en-US" dirty="0"/>
              <a:t>之理想吞吐量。</a:t>
            </a:r>
          </a:p>
        </p:txBody>
      </p:sp>
    </p:spTree>
    <p:extLst>
      <p:ext uri="{BB962C8B-B14F-4D97-AF65-F5344CB8AC3E}">
        <p14:creationId xmlns:p14="http://schemas.microsoft.com/office/powerpoint/2010/main" val="374551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D68ACE-4BFA-5F59-BBBA-C6AC8A47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軟硬體協同設計與系統整合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C8565D-9C0C-BF63-7A79-F6B95400B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AXI </a:t>
            </a:r>
            <a:r>
              <a:rPr lang="zh-TW" altLang="en-US" dirty="0"/>
              <a:t>匯流排架構設計：</a:t>
            </a:r>
          </a:p>
          <a:p>
            <a:r>
              <a:rPr lang="zh-TW" altLang="en-US" dirty="0"/>
              <a:t>控制層面：由 </a:t>
            </a:r>
            <a:r>
              <a:rPr lang="en-US" altLang="zh-TW" dirty="0"/>
              <a:t>PS </a:t>
            </a:r>
            <a:r>
              <a:rPr lang="zh-TW" altLang="en-US" dirty="0"/>
              <a:t>端透過 </a:t>
            </a:r>
            <a:r>
              <a:rPr lang="en-US" altLang="zh-TW" dirty="0"/>
              <a:t>AXI-Lite </a:t>
            </a:r>
            <a:r>
              <a:rPr lang="zh-TW" altLang="en-US" dirty="0"/>
              <a:t>介面配置影像解析度與控制訊號。</a:t>
            </a:r>
          </a:p>
          <a:p>
            <a:r>
              <a:rPr lang="zh-TW" altLang="en-US" dirty="0"/>
              <a:t>資料層面：由 </a:t>
            </a:r>
            <a:r>
              <a:rPr lang="en-US" altLang="zh-TW" dirty="0"/>
              <a:t>IP </a:t>
            </a:r>
            <a:r>
              <a:rPr lang="zh-TW" altLang="en-US" dirty="0"/>
              <a:t>內建之 </a:t>
            </a:r>
            <a:r>
              <a:rPr lang="en-US" altLang="zh-TW" dirty="0"/>
              <a:t>AXI Master </a:t>
            </a:r>
            <a:r>
              <a:rPr lang="zh-TW" altLang="en-US" dirty="0"/>
              <a:t>介面主動存取 </a:t>
            </a:r>
            <a:r>
              <a:rPr lang="en-US" altLang="zh-TW" dirty="0"/>
              <a:t>DDR </a:t>
            </a:r>
            <a:r>
              <a:rPr lang="zh-TW" altLang="en-US" dirty="0"/>
              <a:t>記憶體 </a:t>
            </a:r>
            <a:r>
              <a:rPr lang="en-US" altLang="zh-TW" dirty="0"/>
              <a:t>(DMA </a:t>
            </a:r>
            <a:r>
              <a:rPr lang="zh-TW" altLang="en-US" dirty="0"/>
              <a:t>傳輸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系統實作挑戰與對策：說明在 </a:t>
            </a:r>
            <a:r>
              <a:rPr lang="en-US" altLang="zh-TW" dirty="0" err="1"/>
              <a:t>Vivado</a:t>
            </a:r>
            <a:r>
              <a:rPr lang="en-US" altLang="zh-TW" dirty="0"/>
              <a:t> Block Design </a:t>
            </a:r>
            <a:r>
              <a:rPr lang="zh-TW" altLang="en-US" dirty="0"/>
              <a:t>中，為避免 </a:t>
            </a:r>
            <a:r>
              <a:rPr lang="en-US" altLang="zh-TW" dirty="0"/>
              <a:t>AXI Crossbar </a:t>
            </a:r>
            <a:r>
              <a:rPr lang="zh-TW" altLang="en-US" dirty="0"/>
              <a:t>之位址衝突 </a:t>
            </a:r>
            <a:r>
              <a:rPr lang="en-US" altLang="zh-TW" dirty="0"/>
              <a:t>(Address Overlap)</a:t>
            </a:r>
            <a:r>
              <a:rPr lang="zh-TW" altLang="en-US" dirty="0"/>
              <a:t>，採用雙通道獨立傳輸（</a:t>
            </a:r>
            <a:r>
              <a:rPr lang="en-US" altLang="zh-TW" dirty="0"/>
              <a:t>HP0 </a:t>
            </a:r>
            <a:r>
              <a:rPr lang="zh-TW" altLang="en-US" dirty="0"/>
              <a:t>負責讀取，</a:t>
            </a:r>
            <a:r>
              <a:rPr lang="en-US" altLang="zh-TW" dirty="0"/>
              <a:t>HP1 </a:t>
            </a:r>
            <a:r>
              <a:rPr lang="zh-TW" altLang="en-US" dirty="0"/>
              <a:t>負責寫入）以最大化記憶體頻寬。</a:t>
            </a:r>
          </a:p>
        </p:txBody>
      </p:sp>
    </p:spTree>
    <p:extLst>
      <p:ext uri="{BB962C8B-B14F-4D97-AF65-F5344CB8AC3E}">
        <p14:creationId xmlns:p14="http://schemas.microsoft.com/office/powerpoint/2010/main" val="3618792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279ABE-9876-FEDB-7998-8329D758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軟硬體協同設計與系統整合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6A60900-F3F1-3CFB-A5A4-E18209D67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" t="2181"/>
          <a:stretch/>
        </p:blipFill>
        <p:spPr>
          <a:xfrm>
            <a:off x="892175" y="1365250"/>
            <a:ext cx="10407650" cy="5270061"/>
          </a:xfrm>
        </p:spPr>
      </p:pic>
    </p:spTree>
    <p:extLst>
      <p:ext uri="{BB962C8B-B14F-4D97-AF65-F5344CB8AC3E}">
        <p14:creationId xmlns:p14="http://schemas.microsoft.com/office/powerpoint/2010/main" val="236605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76E00-5B7E-A811-94AD-EE6981CF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系統效能評估與瓶頸分析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4329DE-5644-0850-BAC9-6385CA136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硬體加速效能表現：展示 </a:t>
            </a:r>
            <a:r>
              <a:rPr lang="en-US" altLang="zh-TW" dirty="0"/>
              <a:t>FPGA </a:t>
            </a:r>
            <a:r>
              <a:rPr lang="zh-TW" altLang="en-US" dirty="0"/>
              <a:t>在 </a:t>
            </a:r>
            <a:r>
              <a:rPr lang="en-US" altLang="zh-TW" dirty="0"/>
              <a:t>720p </a:t>
            </a:r>
            <a:r>
              <a:rPr lang="zh-TW" altLang="en-US" dirty="0"/>
              <a:t>影像下之運算延遲為 </a:t>
            </a:r>
            <a:r>
              <a:rPr lang="en-US" altLang="zh-TW" dirty="0"/>
              <a:t>10.19 </a:t>
            </a:r>
            <a:r>
              <a:rPr lang="en-US" altLang="zh-TW" dirty="0" err="1"/>
              <a:t>ms</a:t>
            </a:r>
            <a:r>
              <a:rPr lang="en-US" altLang="zh-TW" dirty="0"/>
              <a:t> (</a:t>
            </a:r>
            <a:r>
              <a:rPr lang="zh-TW" altLang="en-US" dirty="0"/>
              <a:t>約等同於 </a:t>
            </a:r>
            <a:r>
              <a:rPr lang="en-US" altLang="zh-TW" dirty="0"/>
              <a:t>98 FPS)</a:t>
            </a:r>
            <a:r>
              <a:rPr lang="zh-TW" altLang="en-US" dirty="0"/>
              <a:t>，證明硬體核心已具備極高之即時處理能力。</a:t>
            </a:r>
          </a:p>
          <a:p>
            <a:r>
              <a:rPr lang="zh-TW" altLang="en-US" dirty="0"/>
              <a:t>軟硬體效能比較：對比純 </a:t>
            </a:r>
            <a:r>
              <a:rPr lang="en-US" altLang="zh-TW" dirty="0"/>
              <a:t>Python </a:t>
            </a:r>
            <a:r>
              <a:rPr lang="zh-TW" altLang="en-US" dirty="0"/>
              <a:t>執行該演算法之執行時間。</a:t>
            </a:r>
          </a:p>
          <a:p>
            <a:r>
              <a:rPr lang="zh-TW" altLang="en-US" dirty="0"/>
              <a:t>系統瓶頸分析 </a:t>
            </a:r>
            <a:r>
              <a:rPr lang="en-US" altLang="zh-TW" dirty="0"/>
              <a:t>(System Bottleneck)</a:t>
            </a:r>
            <a:r>
              <a:rPr lang="zh-TW" altLang="en-US" dirty="0"/>
              <a:t>：以客觀角度分析「動態影片處理速率較低」之主因。解釋瓶頸並非在於 </a:t>
            </a:r>
            <a:r>
              <a:rPr lang="en-US" altLang="zh-TW" dirty="0"/>
              <a:t>FPGA </a:t>
            </a:r>
            <a:r>
              <a:rPr lang="zh-TW" altLang="en-US" dirty="0"/>
              <a:t>運算，而是源於 </a:t>
            </a:r>
            <a:r>
              <a:rPr lang="en-US" altLang="zh-TW" dirty="0"/>
              <a:t>PS </a:t>
            </a:r>
            <a:r>
              <a:rPr lang="zh-TW" altLang="en-US" dirty="0"/>
              <a:t>端 </a:t>
            </a:r>
            <a:r>
              <a:rPr lang="en-US" altLang="zh-TW" dirty="0"/>
              <a:t>(ARM CPU) </a:t>
            </a:r>
            <a:r>
              <a:rPr lang="zh-TW" altLang="en-US" dirty="0"/>
              <a:t>執行 </a:t>
            </a:r>
            <a:r>
              <a:rPr lang="en-US" altLang="zh-TW" dirty="0"/>
              <a:t>Python OpenCV </a:t>
            </a:r>
            <a:r>
              <a:rPr lang="zh-TW" altLang="en-US" dirty="0"/>
              <a:t>影片解碼、檔案 </a:t>
            </a:r>
            <a:r>
              <a:rPr lang="en-US" altLang="zh-TW" dirty="0"/>
              <a:t>I/O </a:t>
            </a:r>
            <a:r>
              <a:rPr lang="zh-TW" altLang="en-US" dirty="0"/>
              <a:t>以及作業系統記憶體複製 </a:t>
            </a:r>
            <a:r>
              <a:rPr lang="en-US" altLang="zh-TW" dirty="0"/>
              <a:t>(Memory Copy) </a:t>
            </a:r>
            <a:r>
              <a:rPr lang="zh-TW" altLang="en-US" dirty="0"/>
              <a:t>之軟體開銷 </a:t>
            </a:r>
            <a:r>
              <a:rPr lang="en-US" altLang="zh-TW" dirty="0"/>
              <a:t>(Software Overhead)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9169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73F1F-9735-D4F7-FD68-75E8D5E5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結論與未來展望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AA66CF-91ED-9EA6-738E-721246DD7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結論：成功完成從 </a:t>
            </a:r>
            <a:r>
              <a:rPr lang="en-US" altLang="zh-TW" dirty="0"/>
              <a:t>C++ </a:t>
            </a:r>
            <a:r>
              <a:rPr lang="zh-TW" altLang="en-US" dirty="0"/>
              <a:t>高階合成 </a:t>
            </a:r>
            <a:r>
              <a:rPr lang="en-US" altLang="zh-TW" dirty="0"/>
              <a:t>(HLS) </a:t>
            </a:r>
            <a:r>
              <a:rPr lang="zh-TW" altLang="en-US" dirty="0"/>
              <a:t>到 </a:t>
            </a:r>
            <a:r>
              <a:rPr lang="en-US" altLang="zh-TW" dirty="0" err="1"/>
              <a:t>Vivado</a:t>
            </a:r>
            <a:r>
              <a:rPr lang="en-US" altLang="zh-TW" dirty="0"/>
              <a:t> </a:t>
            </a:r>
            <a:r>
              <a:rPr lang="zh-TW" altLang="en-US" dirty="0"/>
              <a:t>系統整合，並於 </a:t>
            </a:r>
            <a:r>
              <a:rPr lang="en-US" altLang="zh-TW" dirty="0"/>
              <a:t>PYNQ </a:t>
            </a:r>
            <a:r>
              <a:rPr lang="zh-TW" altLang="en-US" dirty="0"/>
              <a:t>平台驗證軟硬體協同設計之可行性。</a:t>
            </a:r>
          </a:p>
          <a:p>
            <a:r>
              <a:rPr lang="zh-TW" altLang="en-US" dirty="0"/>
              <a:t>未來展望：若要進一步提升影片播放的流暢度，未來可考慮將影像解碼 </a:t>
            </a:r>
            <a:r>
              <a:rPr lang="en-US" altLang="zh-TW" dirty="0"/>
              <a:t>(Video Decoding) </a:t>
            </a:r>
            <a:r>
              <a:rPr lang="zh-TW" altLang="en-US" dirty="0"/>
              <a:t>或是 </a:t>
            </a:r>
            <a:r>
              <a:rPr lang="en-US" altLang="zh-TW" dirty="0"/>
              <a:t>HDMI </a:t>
            </a:r>
            <a:r>
              <a:rPr lang="zh-TW" altLang="en-US" dirty="0"/>
              <a:t>顯示介面 </a:t>
            </a:r>
            <a:r>
              <a:rPr lang="en-US" altLang="zh-TW" dirty="0"/>
              <a:t>(VDMA) </a:t>
            </a:r>
            <a:r>
              <a:rPr lang="zh-TW" altLang="en-US" dirty="0"/>
              <a:t>直接整合入 </a:t>
            </a:r>
            <a:r>
              <a:rPr lang="en-US" altLang="zh-TW" dirty="0"/>
              <a:t>FPGA </a:t>
            </a:r>
            <a:r>
              <a:rPr lang="zh-TW" altLang="en-US" dirty="0"/>
              <a:t>硬體層 </a:t>
            </a:r>
            <a:r>
              <a:rPr lang="en-US" altLang="zh-TW" dirty="0"/>
              <a:t>(PL </a:t>
            </a:r>
            <a:r>
              <a:rPr lang="zh-TW" altLang="en-US" dirty="0"/>
              <a:t>端</a:t>
            </a:r>
            <a:r>
              <a:rPr lang="en-US" altLang="zh-TW" dirty="0"/>
              <a:t>)</a:t>
            </a:r>
            <a:r>
              <a:rPr lang="zh-TW" altLang="en-US" dirty="0"/>
              <a:t>，以達成端到端 </a:t>
            </a:r>
            <a:r>
              <a:rPr lang="en-US" altLang="zh-TW" dirty="0"/>
              <a:t>(End-to-End) </a:t>
            </a:r>
            <a:r>
              <a:rPr lang="zh-TW" altLang="en-US"/>
              <a:t>的全硬體即時處理。</a:t>
            </a:r>
          </a:p>
        </p:txBody>
      </p:sp>
    </p:spTree>
    <p:extLst>
      <p:ext uri="{BB962C8B-B14F-4D97-AF65-F5344CB8AC3E}">
        <p14:creationId xmlns:p14="http://schemas.microsoft.com/office/powerpoint/2010/main" val="4106796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650</Words>
  <Application>Microsoft Office PowerPoint</Application>
  <PresentationFormat>寬螢幕</PresentationFormat>
  <Paragraphs>28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Noto Serif CJK TC Medium</vt:lpstr>
      <vt:lpstr>Aptos</vt:lpstr>
      <vt:lpstr>Aptos Display</vt:lpstr>
      <vt:lpstr>Arial</vt:lpstr>
      <vt:lpstr>Office 佈景主題</vt:lpstr>
      <vt:lpstr>邊緣特徵提取與素描風格即時轉換</vt:lpstr>
      <vt:lpstr>專案動機與系統目標</vt:lpstr>
      <vt:lpstr>演算法分析與設計</vt:lpstr>
      <vt:lpstr>硬體微架構設計與最佳化</vt:lpstr>
      <vt:lpstr>軟硬體協同設計與系統整合</vt:lpstr>
      <vt:lpstr>軟硬體協同設計與系統整合</vt:lpstr>
      <vt:lpstr>系統效能評估與瓶頸分析</vt:lpstr>
      <vt:lpstr>結論與未來展望 </vt:lpstr>
    </vt:vector>
  </TitlesOfParts>
  <Company>NTUT Computer And Network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黃安華</dc:creator>
  <cp:lastModifiedBy>黃安華</cp:lastModifiedBy>
  <cp:revision>7</cp:revision>
  <dcterms:created xsi:type="dcterms:W3CDTF">2026-06-16T10:41:13Z</dcterms:created>
  <dcterms:modified xsi:type="dcterms:W3CDTF">2026-06-16T11:29:09Z</dcterms:modified>
</cp:coreProperties>
</file>